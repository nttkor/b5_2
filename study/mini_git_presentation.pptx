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58A6FF"/>
                </a:solidFill>
              </a:defRPr>
            </a:pPr>
            <a:r>
              <a:t>CODYSSEY AI/SW BASIC  |  DATA STRUCTURES &amp; ALGORITHMS</a:t>
            </a:r>
          </a:p>
          <a:p>
            <a:pPr>
              <a:spcAft>
                <a:spcPts val="1200"/>
              </a:spcAft>
              <a:defRPr sz="3600" b="1">
                <a:solidFill>
                  <a:srgbClr val="F0F6FC"/>
                </a:solidFill>
              </a:defRPr>
            </a:pPr>
            <a:r>
              <a:t>Mini Git — CLI 기반 커밋 그래프 엔진</a:t>
            </a:r>
          </a:p>
          <a:p>
            <a:pPr>
              <a:spcAft>
                <a:spcPts val="2800"/>
              </a:spcAft>
              <a:defRPr sz="1600">
                <a:solidFill>
                  <a:srgbClr val="8B949E"/>
                </a:solidFill>
              </a:defRPr>
            </a:pPr>
            <a:r>
              <a:t>외장 그래프 패키지 &amp; 표준 정렬 API 없이 밑바닥부터 구현한 분산 버전 관리 시스템 코어</a:t>
            </a:r>
          </a:p>
          <a:p>
            <a:pPr>
              <a:defRPr sz="1300" b="1">
                <a:solidFill>
                  <a:srgbClr val="3FB950"/>
                </a:solidFill>
              </a:defRPr>
            </a:pPr>
            <a:r>
              <a:t>발표자: 최성민  |  판정: PASS (8/8 Tests 100% Verified)  |  언어: Pure 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01. 프로젝트 목표 &amp; 엄격한 설계 제약사항 (Rules &amp; Constraints)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🎯 미션 핵심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DVCS 코어 체득: </a:t>
            </a:r>
            <a:r>
              <a:rPr b="0" sz="1200">
                <a:solidFill>
                  <a:srgbClr val="8B949E"/>
                </a:solidFill>
              </a:rPr>
              <a:t>Git의 커밋 그래프 및 해시 무결성 원리를 밑바닥부터 구현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DAG 모델링: </a:t>
            </a:r>
            <a:r>
              <a:rPr b="0" sz="1200">
                <a:solidFill>
                  <a:srgbClr val="8B949E"/>
                </a:solidFill>
              </a:rPr>
              <a:t>커밋을 방향성 비순환 그래프 정점으로 구성하고 브랜치 포인터 관리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위상 정렬 LOG: </a:t>
            </a:r>
            <a:r>
              <a:rPr b="0" sz="1200">
                <a:solidFill>
                  <a:srgbClr val="8B949E"/>
                </a:solidFill>
              </a:rPr>
              <a:t>부모 커밋이 자식보다 항상 먼저 출력되는 인과율 보장 로그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무방향 최단 경로: </a:t>
            </a:r>
            <a:r>
              <a:rPr b="0" sz="1200">
                <a:solidFill>
                  <a:srgbClr val="8B949E"/>
                </a:solidFill>
              </a:rPr>
              <a:t>브랜치 간 최단 경로 탐색 및 사전순 타이브레이크 보장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역색인 검색 엔진: </a:t>
            </a:r>
            <a:r>
              <a:rPr b="0" sz="1200">
                <a:solidFill>
                  <a:srgbClr val="8B949E"/>
                </a:solidFill>
              </a:rPr>
              <a:t>단일 룩업 O(1) 키워드 및 작성자 검색 파이프라인 구축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t>🚫 엄격한 라이브러리 제약조건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그래프 패키지 금지: </a:t>
            </a:r>
            <a:r>
              <a:rPr b="0" sz="1200">
                <a:solidFill>
                  <a:srgbClr val="8B949E"/>
                </a:solidFill>
              </a:rPr>
              <a:t>NetworkX, igraph 등 외장 그래프 라이브러리 사용 전면 배제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표준 정렬 API 금지: </a:t>
            </a:r>
            <a:r>
              <a:rPr b="0" sz="1200">
                <a:solidFill>
                  <a:srgbClr val="8B949E"/>
                </a:solidFill>
              </a:rPr>
              <a:t>sorted(), list.sort() 등 Python 내장 정렬 API 일체 사용 금지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순수 자료구조 구현: </a:t>
            </a:r>
            <a:r>
              <a:rPr b="0" sz="1200">
                <a:solidFill>
                  <a:srgbClr val="8B949E"/>
                </a:solidFill>
              </a:rPr>
              <a:t>인접 리스트, BFS 큐, Kahn 위상 정렬, 분할 정복 병합 정렬 직접 코딩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인메모리 경량화: </a:t>
            </a:r>
            <a:r>
              <a:rPr b="0" sz="1200">
                <a:solidFill>
                  <a:srgbClr val="8B949E"/>
                </a:solidFill>
              </a:rPr>
              <a:t>네트워크/디스크 영속성 없이 메모리 상의 O(1) 해시맵 상태로 운영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보안 및 에러 표준: </a:t>
            </a:r>
            <a:r>
              <a:rPr b="0" sz="1200">
                <a:solidFill>
                  <a:srgbClr val="8B949E"/>
                </a:solidFill>
              </a:rPr>
              <a:t>shlex 파싱, 대소문자 무관, RepoError 도메인 예외 체계 확립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02. 시스템 아키텍처 및 책임 분리 설계 (Architecture)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0175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🖥️ Presentation (CLI)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cli.py: </a:t>
            </a:r>
            <a:r>
              <a:rPr b="0" sz="1200">
                <a:solidFill>
                  <a:srgbClr val="8B949E"/>
                </a:solidFill>
              </a:rPr>
              <a:t>대화형 REPL 루프 및 입출력 정규화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shlex.split: </a:t>
            </a:r>
            <a:r>
              <a:rPr b="0" sz="1200">
                <a:solidFill>
                  <a:srgbClr val="8B949E"/>
                </a:solidFill>
              </a:rPr>
              <a:t>따옴표 포함 문자열 공백 안전 파싱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dispatch(): </a:t>
            </a:r>
            <a:r>
              <a:rPr b="0" sz="1200">
                <a:solidFill>
                  <a:srgbClr val="8B949E"/>
                </a:solidFill>
              </a:rPr>
              <a:t>명령어 대소문자 무관 라우팅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에러 표준화: </a:t>
            </a:r>
            <a:r>
              <a:rPr b="0" sz="1200">
                <a:solidFill>
                  <a:srgbClr val="8B949E"/>
                </a:solidFill>
              </a:rPr>
              <a:t>Invalid args, Unknown branch/commit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0175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🏛️ State Engine (Domain)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repo.py: </a:t>
            </a:r>
            <a:r>
              <a:rPr b="0" sz="1200">
                <a:solidFill>
                  <a:srgbClr val="8B949E"/>
                </a:solidFill>
              </a:rPr>
              <a:t>저장소 형상 상태 단일 진실 공급원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branches: </a:t>
            </a:r>
            <a:r>
              <a:rPr b="0" sz="1200">
                <a:solidFill>
                  <a:srgbClr val="8B949E"/>
                </a:solidFill>
              </a:rPr>
              <a:t>브랜치명 -&gt; 최신 해시 가변 포인터 맵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current_branch: </a:t>
            </a:r>
            <a:r>
              <a:rPr b="0" sz="1200">
                <a:solidFill>
                  <a:srgbClr val="8B949E"/>
                </a:solidFill>
              </a:rPr>
              <a:t>HEAD 심볼릭 체크아웃 브랜치 관리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Commit Node: </a:t>
            </a:r>
            <a:r>
              <a:rPr b="0" sz="1200">
                <a:solidFill>
                  <a:srgbClr val="8B949E"/>
                </a:solidFill>
              </a:rPr>
              <a:t>6자리 해시, 부모 목록, 타임스탬프,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0" y="1783080"/>
            <a:ext cx="30175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C8CFF"/>
                </a:solidFill>
              </a:defRPr>
            </a:pPr>
            <a:r>
              <a:t>⚡ Algorithms (Pure Engine)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2926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graph.py: </a:t>
            </a:r>
            <a:r>
              <a:rPr b="0" sz="1200">
                <a:solidFill>
                  <a:srgbClr val="8B949E"/>
                </a:solidFill>
              </a:rPr>
              <a:t>topological_order, shortest_path, ancestors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sorting.py: </a:t>
            </a:r>
            <a:r>
              <a:rPr b="0" sz="1200">
                <a:solidFill>
                  <a:srgbClr val="8B949E"/>
                </a:solidFill>
              </a:rPr>
              <a:t>merge_sort (O(N log N) 안정 정렬)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index.py: </a:t>
            </a:r>
            <a:r>
              <a:rPr b="0" sz="1200">
                <a:solidFill>
                  <a:srgbClr val="8B949E"/>
                </a:solidFill>
              </a:rPr>
              <a:t>InvertedIndex (토큰 및 작성자 역색인)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무상태성: </a:t>
            </a:r>
            <a:r>
              <a:rPr b="0" sz="1200">
                <a:solidFill>
                  <a:srgbClr val="8B949E"/>
                </a:solidFill>
              </a:rPr>
              <a:t>알고리즘 함수는 순수 딕셔너리만 받아 재사용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03. 커밋 그래프 자료구조 — 왜 DAG인가? (Directed Acyclic Graph)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⏳ 시간의 인과율과 비순환성 보장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방향성 (Directed): </a:t>
            </a:r>
            <a:r>
              <a:rPr b="0" sz="1200">
                <a:solidFill>
                  <a:srgbClr val="8B949E"/>
                </a:solidFill>
              </a:rPr>
              <a:t>간선은 항상 '자식 노드 -&gt; 부모 노드' 방향으로 연결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인과성 (Causality): </a:t>
            </a:r>
            <a:r>
              <a:rPr b="0" sz="1200">
                <a:solidFill>
                  <a:srgbClr val="8B949E"/>
                </a:solidFill>
              </a:rPr>
              <a:t>새 커밋 생성 시 부모는 이미 확정된 과거 노드만 지정 가능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미래 참조 불가: </a:t>
            </a:r>
            <a:r>
              <a:rPr b="0" sz="1200">
                <a:solidFill>
                  <a:srgbClr val="8B949E"/>
                </a:solidFill>
              </a:rPr>
              <a:t>미래 커밋은 해시조차 없으므로 부모로 참조 불가 -&gt; 사이클 원천 차단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Commit.parents: </a:t>
            </a:r>
            <a:r>
              <a:rPr b="0" sz="1200">
                <a:solidFill>
                  <a:srgbClr val="8B949E"/>
                </a:solidFill>
              </a:rPr>
              <a:t>0개(루트), 1개(일반), 2개 이상(Merge) 부모 리스트 보유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단일 해시맵 O(1): </a:t>
            </a:r>
            <a:r>
              <a:rPr b="0" sz="1200">
                <a:solidFill>
                  <a:srgbClr val="8B949E"/>
                </a:solidFill>
              </a:rPr>
              <a:t>Repository.commits[hash]로 임의 커밋 상수 시간 접근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t>⚠️ 사이클 발생 시 시스템 파멸적 영향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무한 루프 발생: </a:t>
            </a:r>
            <a:r>
              <a:rPr b="0" sz="1200">
                <a:solidFill>
                  <a:srgbClr val="8B949E"/>
                </a:solidFill>
              </a:rPr>
              <a:t>조상 탐색(DFS) 및 최단 경로(BFS) 순회 시 탈출 조건 붕괴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위상 정렬 불가능: </a:t>
            </a:r>
            <a:r>
              <a:rPr b="0" sz="1200">
                <a:solidFill>
                  <a:srgbClr val="8B949E"/>
                </a:solidFill>
              </a:rPr>
              <a:t>진입 차수가 0으로 떨어지지 않아 선후 관계 정의 불가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머지 베이스 붕괴: </a:t>
            </a:r>
            <a:r>
              <a:rPr b="0" sz="1200">
                <a:solidFill>
                  <a:srgbClr val="8B949E"/>
                </a:solidFill>
              </a:rPr>
              <a:t>공통 조상(LCA)을 특정할 수 없어 3-way 병합 불능 상태 초래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데이터 무결성: </a:t>
            </a:r>
            <a:r>
              <a:rPr b="0" sz="1200">
                <a:solidFill>
                  <a:srgbClr val="8B949E"/>
                </a:solidFill>
              </a:rPr>
              <a:t>해시 체인이 상호 참조를 일으켜 암호학적 머클 트리 성질 파괴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04. 위상 정렬 LOG — 부모 커밋 선행 출력 알고리즘 (Kahn's Algorithm)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⚙️ Kahn 알고리즘 3단계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1단계: 진입차수 산출: </a:t>
            </a:r>
            <a:r>
              <a:rPr b="0" sz="1200">
                <a:solidFill>
                  <a:srgbClr val="8B949E"/>
                </a:solidFill>
              </a:rPr>
              <a:t>부모 -&gt; 자식 간선에 대해 자식 노드의 indegree 계산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2단계: 큐 시딩: </a:t>
            </a:r>
            <a:r>
              <a:rPr b="0" sz="1200">
                <a:solidFill>
                  <a:srgbClr val="8B949E"/>
                </a:solidFill>
              </a:rPr>
              <a:t>부모가 없는 루트 커밋(indegree == 0)들을 큐에 등록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결정론적 순서: </a:t>
            </a:r>
            <a:r>
              <a:rPr b="0" sz="1200">
                <a:solidFill>
                  <a:srgbClr val="8B949E"/>
                </a:solidFill>
              </a:rPr>
              <a:t>동률 시 커밋 생성 순번(order) 기준 안정 정렬하여 시딩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3단계: 큐 소비 &amp; 삭감: </a:t>
            </a:r>
            <a:r>
              <a:rPr b="0" sz="1200">
                <a:solidFill>
                  <a:srgbClr val="8B949E"/>
                </a:solidFill>
              </a:rPr>
              <a:t>큐에서 노드 u 추출 후 자식 v의 indegree를 1 감소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자식 큐 투입: </a:t>
            </a:r>
            <a:r>
              <a:rPr b="0" sz="1200">
                <a:solidFill>
                  <a:srgbClr val="8B949E"/>
                </a:solidFill>
              </a:rPr>
              <a:t>indegree[v]가 0이 되는 순간(모든 부모 처리 완료) 큐에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📊 복잡도 분석 &amp; 엔지니어링 의의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시간 복잡도: </a:t>
            </a:r>
            <a:r>
              <a:rPr b="0" sz="1200">
                <a:solidFill>
                  <a:srgbClr val="8B949E"/>
                </a:solidFill>
              </a:rPr>
              <a:t>O(V + E) + O(V log V) — 정점 및 간선 1회 순회로 선형 수행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공간 복잡도: </a:t>
            </a:r>
            <a:r>
              <a:rPr b="0" sz="1200">
                <a:solidFill>
                  <a:srgbClr val="8B949E"/>
                </a:solidFill>
              </a:rPr>
              <a:t>O(V + E) — 인접 리스트 및 indegree 테이블 유지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단순 나열과의 차이: </a:t>
            </a:r>
            <a:r>
              <a:rPr b="0" sz="1200">
                <a:solidFill>
                  <a:srgbClr val="8B949E"/>
                </a:solidFill>
              </a:rPr>
              <a:t>자식이 부모보다 먼저 보이는 일반 최신순 로그의 직관성 한계 극복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외부 이력 대비: </a:t>
            </a:r>
            <a:r>
              <a:rPr b="0" sz="1200">
                <a:solidFill>
                  <a:srgbClr val="8B949E"/>
                </a:solidFill>
              </a:rPr>
              <a:t>생성 순서에 의존하지 않고 진짜 indegree를 추적하여 Replay에도 안전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05. 최단 경로 탐색 — 무방향 간선 모델링 &amp; BFS (Shortest Path)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🔄 왜 간선을 무방향으로 간주하는가?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형제 브랜치 분기: </a:t>
            </a:r>
            <a:r>
              <a:rPr b="0" sz="1200">
                <a:solidFill>
                  <a:srgbClr val="8B949E"/>
                </a:solidFill>
              </a:rPr>
              <a:t>feature와 main 브랜치 커밋은 공통 조상에서 갈라진 형제 관계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단방향 탐색의 한계: </a:t>
            </a:r>
            <a:r>
              <a:rPr b="0" sz="1200">
                <a:solidFill>
                  <a:srgbClr val="8B949E"/>
                </a:solidFill>
              </a:rPr>
              <a:t>자식 -&gt; 부모만 허용 시 공통 조상 도달 후 다른 브랜치로 역주행 불가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양방향 간선 확장: </a:t>
            </a:r>
            <a:r>
              <a:rPr b="0" sz="1200">
                <a:solidFill>
                  <a:srgbClr val="8B949E"/>
                </a:solidFill>
              </a:rPr>
              <a:t>adjacency[p].append(c) &amp; adjacency[c].append(p)로 그래프 구성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브랜치 횡단 경로: </a:t>
            </a:r>
            <a:r>
              <a:rPr b="0" sz="1200">
                <a:solidFill>
                  <a:srgbClr val="8B949E"/>
                </a:solidFill>
              </a:rPr>
              <a:t>login -&gt; root -&gt; payment 형태의 브랜치 간 실질 거리 측정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🎯 BFS 거리 맵 계산 메커니즘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비가중치 최단 경로: </a:t>
            </a:r>
            <a:r>
              <a:rPr b="0" sz="1200">
                <a:solidFill>
                  <a:srgbClr val="8B949E"/>
                </a:solidFill>
              </a:rPr>
              <a:t>모든 간선 가중치=1이므로 다익스트라 대신 BFS가 가장 최적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타깃 기점 탐색: </a:t>
            </a:r>
            <a:r>
              <a:rPr b="0" sz="1200">
                <a:solidFill>
                  <a:srgbClr val="8B949E"/>
                </a:solidFill>
              </a:rPr>
              <a:t>목적지(end)로부터 도달 가능한 모든 노드의 최단 홉 거리(dist_to_end) 계산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도달 불가 검증: </a:t>
            </a:r>
            <a:r>
              <a:rPr b="0" sz="1200">
                <a:solidFill>
                  <a:srgbClr val="8B949E"/>
                </a:solidFill>
              </a:rPr>
              <a:t>start 노드가 dist_to_end 맵에 없으면 즉시 'No path' 반환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시간/공간 복잡도: </a:t>
            </a:r>
            <a:r>
              <a:rPr b="0" sz="1200">
                <a:solidFill>
                  <a:srgbClr val="8B949E"/>
                </a:solidFill>
              </a:rPr>
              <a:t>O(V + E) 선형 시간에 그래프 전체 최단 거리 맵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06. 결정론적 타이브레이크 — 사전순 최단 경로 그리디 증명 (Tie-breaking)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C8CFF"/>
                </a:solidFill>
              </a:defRPr>
            </a:pPr>
            <a:r>
              <a:t>💎 다이아몬드 머지 경로 경쟁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동일 거리 경쟁: </a:t>
            </a:r>
            <a:r>
              <a:rPr b="0" sz="1200">
                <a:solidFill>
                  <a:srgbClr val="8B949E"/>
                </a:solidFill>
              </a:rPr>
              <a:t>a0 -&gt; {b1, c1} -&gt; d2 구조에서 a0-&gt;b1-&gt;d2와 a0-&gt;c1-&gt;d2는 둘 다 2홉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요구 규격: </a:t>
            </a:r>
            <a:r>
              <a:rPr b="0" sz="1200">
                <a:solidFill>
                  <a:srgbClr val="8B949E"/>
                </a:solidFill>
              </a:rPr>
              <a:t>경로를 'h1-&gt;h2-&gt;...' 문자열 결합 시 사전순(Lexicographical) 최솟값 선택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단순 접근의 비효율: </a:t>
            </a:r>
            <a:r>
              <a:rPr b="0" sz="1200">
                <a:solidFill>
                  <a:srgbClr val="8B949E"/>
                </a:solidFill>
              </a:rPr>
              <a:t>모든 최단 경로를 백트래킹으로 전수 탐색하여 정렬 시 O(K!) 폭발 위험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테스트 검증: </a:t>
            </a:r>
            <a:r>
              <a:rPr b="0" sz="1200">
                <a:solidFill>
                  <a:srgbClr val="8B949E"/>
                </a:solidFill>
              </a:rPr>
              <a:t>'b1' &lt; 'c1'이므로 a0-&gt;b1-&gt;d2가 선택됨을 완벽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📐 그리디 역추적 정당성 수학적 증명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길이의 동일성: </a:t>
            </a:r>
            <a:r>
              <a:rPr b="0" sz="1200">
                <a:solidFill>
                  <a:srgbClr val="8B949E"/>
                </a:solidFill>
              </a:rPr>
              <a:t>모든 최단 경로는 홉 수(문자열 블록 수)가 D로 완전히 동일함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사전순 정의: </a:t>
            </a:r>
            <a:r>
              <a:rPr b="0" sz="1200">
                <a:solidFill>
                  <a:srgbClr val="8B949E"/>
                </a:solidFill>
              </a:rPr>
              <a:t>길이가 같은 문자열은 맨 처음 달라지는 원소의 크기에 의해 전체 순서 결정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탐욕적 선택 속성: </a:t>
            </a:r>
            <a:r>
              <a:rPr b="0" sz="1200">
                <a:solidFill>
                  <a:srgbClr val="8B949E"/>
                </a:solidFill>
              </a:rPr>
              <a:t>매 걸음마다 dist가 1 줄어드는 이웃 중 해시가 가장 작은 노드 선택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최적 부분 구조: </a:t>
            </a:r>
            <a:r>
              <a:rPr b="0" sz="1200">
                <a:solidFill>
                  <a:srgbClr val="8B949E"/>
                </a:solidFill>
              </a:rPr>
              <a:t>매 스텝의 국소 최적 선택(Local Optimum)이 전체 사전순 최소(Global Optimum)와 일치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복잡도 혁신: </a:t>
            </a:r>
            <a:r>
              <a:rPr b="0" sz="1200">
                <a:solidFill>
                  <a:srgbClr val="8B949E"/>
                </a:solidFill>
              </a:rPr>
              <a:t>경로 전수 열거 없이 O(V + E) 내에 최종 최단 경로를 직접 재구성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07. 조상 커밋 추적 알고리즘 — DFS 순회 &amp; 중복 방지 (Ancestors)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🔍 스택 기반 깊이 우선 탐색 (DFS)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단방향 부모 추적: </a:t>
            </a:r>
            <a:r>
              <a:rPr b="0" sz="1200">
                <a:solidFill>
                  <a:srgbClr val="8B949E"/>
                </a:solidFill>
              </a:rPr>
              <a:t>시작 노드의 parents 리스트부터 스택에 투입하여 부모의 부모를 재귀 추적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자기 자신 제외: </a:t>
            </a:r>
            <a:r>
              <a:rPr b="0" sz="1200">
                <a:solidFill>
                  <a:srgbClr val="8B949E"/>
                </a:solidFill>
              </a:rPr>
              <a:t>시작 커밋 해시는 결과 집합에 포함하지 않고 순수 조상만 수집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미존재 커밋 방어: </a:t>
            </a:r>
            <a:r>
              <a:rPr b="0" sz="1200">
                <a:solidFill>
                  <a:srgbClr val="8B949E"/>
                </a:solidFill>
              </a:rPr>
              <a:t>저장소에 없는 해시 입력 시 None 반환 및 CLI에서 에러 처리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루트 커밋 질의: </a:t>
            </a:r>
            <a:r>
              <a:rPr b="0" sz="1200">
                <a:solidFill>
                  <a:srgbClr val="8B949E"/>
                </a:solidFill>
              </a:rPr>
              <a:t>부모가 없는 루트 커밋 질의 시 공집합(set()) 정확히 반환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t>🛡️ 다이아몬드 머지 중복 방문 차단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공통 조상 문제: </a:t>
            </a:r>
            <a:r>
              <a:rPr b="0" sz="1200">
                <a:solidFill>
                  <a:srgbClr val="8B949E"/>
                </a:solidFill>
              </a:rPr>
              <a:t>복수 브랜치가 병합된 경우 동일 조상이 여러 부모 경로를 통해 중복 노출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seen 집합 활용: </a:t>
            </a:r>
            <a:r>
              <a:rPr b="0" sz="1200">
                <a:solidFill>
                  <a:srgbClr val="8B949E"/>
                </a:solidFill>
              </a:rPr>
              <a:t>해시셋(seen: set[str])을 통해 이미 방문한 노드는 스택 확장 생략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시간 복잡도: </a:t>
            </a:r>
            <a:r>
              <a:rPr b="0" sz="1200">
                <a:solidFill>
                  <a:srgbClr val="8B949E"/>
                </a:solidFill>
              </a:rPr>
              <a:t>O(V_ancestors + E_ancestors) — 도달 가능한 부분 그래프 크기에만 비례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공간 복잡도: </a:t>
            </a:r>
            <a:r>
              <a:rPr b="0" sz="1200">
                <a:solidFill>
                  <a:srgbClr val="8B949E"/>
                </a:solidFill>
              </a:rPr>
              <a:t>O(V_ancestors) — 방문 해시셋 및 DFS 호출 스택 크기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08. 역색인 검색 엔진 — O(1) 초고속 조회 아키텍처 (Inverted Index)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📖 역색인(Inverted Index) 구축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사전 색인화 (Pre-indexing): </a:t>
            </a:r>
            <a:r>
              <a:rPr b="0" sz="1200">
                <a:solidFill>
                  <a:srgbClr val="8B949E"/>
                </a:solidFill>
              </a:rPr>
              <a:t>커밋 생성(Write-time) 시점에 텍스트를 파싱하여 색인 테이블에 등록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토큰화 &amp; 소문자 정규화: </a:t>
            </a:r>
            <a:r>
              <a:rPr b="0" sz="1200">
                <a:solidFill>
                  <a:srgbClr val="8B949E"/>
                </a:solidFill>
              </a:rPr>
              <a:t>message.lower().split()으로 공백 분리 후 키워드 딕셔너리에 추가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2종 인덱스 지원: </a:t>
            </a:r>
            <a:r>
              <a:rPr b="0" sz="1200">
                <a:solidFill>
                  <a:srgbClr val="8B949E"/>
                </a:solidFill>
              </a:rPr>
              <a:t>by_keyword[token] -&gt; [hashes], by_author[name] -&gt; [hashes]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불변 리스트 반환: </a:t>
            </a:r>
            <a:r>
              <a:rPr b="0" sz="1200">
                <a:solidFill>
                  <a:srgbClr val="8B949E"/>
                </a:solidFill>
              </a:rPr>
              <a:t>외부 수정 오염 방지를 위해 조회 시 리스트 복사본 반환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⚡ 순회 검색 vs 역색인 성능 비교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전체 순회 검색: </a:t>
            </a:r>
            <a:r>
              <a:rPr b="0" sz="1200">
                <a:solidFill>
                  <a:srgbClr val="8B949E"/>
                </a:solidFill>
              </a:rPr>
              <a:t>매 SEARCH 호출마다 전체 커밋 N개 메시지를 전수 스캔: O(N × L)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역색인 검색: </a:t>
            </a:r>
            <a:r>
              <a:rPr b="0" sz="1200">
                <a:solidFill>
                  <a:srgbClr val="8B949E"/>
                </a:solidFill>
              </a:rPr>
              <a:t>단 1회의 해시 테이블 룩업으로 매칭 해시 추출: 평균 O(1) + O(K)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대규모 환경 격차: </a:t>
            </a:r>
            <a:r>
              <a:rPr b="0" sz="1200">
                <a:solidFill>
                  <a:srgbClr val="8B949E"/>
                </a:solidFill>
              </a:rPr>
              <a:t>커밋 10만 건 환경에서 순회 검색 대비 수천 배 이상의 속도 향상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메모리-시간 트레이드오프: </a:t>
            </a:r>
            <a:r>
              <a:rPr b="0" sz="1200">
                <a:solidFill>
                  <a:srgbClr val="8B949E"/>
                </a:solidFill>
              </a:rPr>
              <a:t>약간의 메모리 인덱스 오버헤드로 읽기 성능을 극대화하는 표준 IR 기법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09. 자체 구현 정렬 엔진 — 병합 정렬과 안정성 증명 (Merge Sort)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C8CFF"/>
                </a:solidFill>
              </a:defRPr>
            </a:pPr>
            <a:r>
              <a:t>🔀 분할 정복 병합 정렬 메커니즘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제약 준수: </a:t>
            </a:r>
            <a:r>
              <a:rPr b="0" sz="1200">
                <a:solidFill>
                  <a:srgbClr val="8B949E"/>
                </a:solidFill>
              </a:rPr>
              <a:t>sorted(), list.sort()를 일체 배제하고 merge_sort() 직접 구현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재귀 분할 (Divide): </a:t>
            </a:r>
            <a:r>
              <a:rPr b="0" sz="1200">
                <a:solidFill>
                  <a:srgbClr val="8B949E"/>
                </a:solidFill>
              </a:rPr>
              <a:t>배열을 중간 지점(mid = len // 2)에서 균등하게 절반 분할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결합 (Conquer &amp; Merge): </a:t>
            </a:r>
            <a:r>
              <a:rPr b="0" sz="1200">
                <a:solidFill>
                  <a:srgbClr val="8B949E"/>
                </a:solidFill>
              </a:rPr>
              <a:t>두 정렬 리스트의 선두 원소를 투 포인터(i, j)로 비교 병합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다양한 키 지원: </a:t>
            </a:r>
            <a:r>
              <a:rPr b="0" sz="1200">
                <a:solidFill>
                  <a:srgbClr val="8B949E"/>
                </a:solidFill>
              </a:rPr>
              <a:t>key=lambda c: c.timestamp, key=lambda c: c.author 유연한 정렬 지원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📐 복잡도 및 안정 정렬(Stability) 보장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시간 복잡도 증명: </a:t>
            </a:r>
            <a:r>
              <a:rPr b="0" sz="1200">
                <a:solidFill>
                  <a:srgbClr val="8B949E"/>
                </a:solidFill>
              </a:rPr>
              <a:t>T(N) = 2T(N/2) + O(N) = O(N log N) (최선/평균/최악 동일)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퀵 정렬 대비 우위: </a:t>
            </a:r>
            <a:r>
              <a:rPr b="0" sz="1200">
                <a:solidFill>
                  <a:srgbClr val="8B949E"/>
                </a:solidFill>
              </a:rPr>
              <a:t>퀵 정렬의 피벗 불균형에 따른 최악 O(N^2) 성능 퇴화 위험 원천 제거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안정 정렬(Stable) 원리: </a:t>
            </a:r>
            <a:r>
              <a:rPr b="0" sz="1200">
                <a:solidFill>
                  <a:srgbClr val="8B949E"/>
                </a:solidFill>
              </a:rPr>
              <a:t>key(left[i]) &lt;= key(right[j]) 비교 시 등호(&lt;=)로 좌측 우선 채택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실무적 의미: </a:t>
            </a:r>
            <a:r>
              <a:rPr b="0" sz="1200">
                <a:solidFill>
                  <a:srgbClr val="8B949E"/>
                </a:solidFill>
              </a:rPr>
              <a:t>동일 작성자 정렬 시 최초 커밋 생성 순번(order)이 100% 보존됨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10. 시스템 신뢰성 &amp; 보안 엔지니어링 (Security &amp; Reliability)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🔒 6자리 SHA-1 해시 유일성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해시 생성 포맷: </a:t>
            </a:r>
            <a:r>
              <a:rPr b="0" sz="1200">
                <a:solidFill>
                  <a:srgbClr val="8B949E"/>
                </a:solidFill>
              </a:rPr>
              <a:t>raw = f'{order}:{salt}:{message}:{timestamp}' 바이트 스트림 생성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생일 역설 공간 분석: </a:t>
            </a:r>
            <a:r>
              <a:rPr b="0" sz="1200">
                <a:solidFill>
                  <a:srgbClr val="8B949E"/>
                </a:solidFill>
              </a:rPr>
              <a:t>16^6 = 16,777,216 공간에서 k ≈ 4,818건 시 50% 확률로 충돌 가능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솔트(Salt) 재시도 루프: </a:t>
            </a:r>
            <a:r>
              <a:rPr b="0" sz="1200">
                <a:solidFill>
                  <a:srgbClr val="8B949E"/>
                </a:solidFill>
              </a:rPr>
              <a:t>충돌 감지 시 salt를 1 증가시켜 즉각 유일 해시 재발급 (중복 확률 0%)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테스트 재현성: </a:t>
            </a:r>
            <a:r>
              <a:rPr b="0" sz="1200">
                <a:solidFill>
                  <a:srgbClr val="8B949E"/>
                </a:solidFill>
              </a:rPr>
              <a:t>단조 카운터 기반으로 일관된 결정론적 테스트 재현성 보장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t>🛡️ 애플리케이션 레벨 보안 가드레일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인젝션 원천 차단: </a:t>
            </a:r>
            <a:r>
              <a:rPr b="0" sz="1200">
                <a:solidFill>
                  <a:srgbClr val="8B949E"/>
                </a:solidFill>
              </a:rPr>
              <a:t>shlex.split() 렉서 파싱 및 os.system 배제로 셸 메타문자 무력화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ReDoS 및 OOM 방어: </a:t>
            </a:r>
            <a:r>
              <a:rPr b="0" sz="1200">
                <a:solidFill>
                  <a:srgbClr val="8B949E"/>
                </a:solidFill>
              </a:rPr>
              <a:t>정규식 대신 split() 사용, 대용량 토큰 인덱싱 상한선 설계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민감정보 파라미터 은닉: </a:t>
            </a:r>
            <a:r>
              <a:rPr b="0" sz="1200">
                <a:solidFill>
                  <a:srgbClr val="8B949E"/>
                </a:solidFill>
              </a:rPr>
              <a:t>로그 출력 시 API Key, 토큰 마스킹(hide_parameters) 아키텍처 제시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도메인 예외 캡슐화: </a:t>
            </a:r>
            <a:r>
              <a:rPr b="0" sz="1200">
                <a:solidFill>
                  <a:srgbClr val="8B949E"/>
                </a:solidFill>
              </a:rPr>
              <a:t>비정상 조작 시 시스템 크래시 없이 표준 RepoError 메시지 반환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8A6FF"/>
                </a:solidFill>
              </a:defRPr>
            </a:pPr>
            <a:r>
              <a:t>● MINI GIT TECHNICAL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6FC"/>
                </a:solidFill>
              </a:defRPr>
            </a:pPr>
            <a:r>
              <a:t>11. 대규모 확장성 로드맵 &amp; 최종 평가 결론 (Scalability &amp; Summary)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C8CFF"/>
                </a:solidFill>
              </a:defRPr>
            </a:pPr>
            <a:r>
              <a:t>🚀 10만 건 커밋 대규모 확장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인접 리스트 상시 캐싱: </a:t>
            </a:r>
            <a:r>
              <a:rPr b="0" sz="1200">
                <a:solidFill>
                  <a:srgbClr val="8B949E"/>
                </a:solidFill>
              </a:rPr>
              <a:t>질의 시마다 즉석 생성하던 인접 리스트를 커밋 시점에 증분 캐싱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양방향 BFS 도입: </a:t>
            </a:r>
            <a:r>
              <a:rPr b="0" sz="1200">
                <a:solidFill>
                  <a:srgbClr val="8B949E"/>
                </a:solidFill>
              </a:rPr>
              <a:t>출발점과 도착점 동시 탐색으로 공간 복잡도 O(b^d) -&gt; O(2·b^(d/2)) 축소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Commit-Graph 영속화: </a:t>
            </a:r>
            <a:r>
              <a:rPr b="0" sz="1200">
                <a:solidFill>
                  <a:srgbClr val="8B949E"/>
                </a:solidFill>
              </a:rPr>
              <a:t>실제 Git 2.18+ 규격처럼 바이너리 오프셋 테이블로 디스크 I/O 최적화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3-way Merge &amp; Diff: </a:t>
            </a:r>
            <a:r>
              <a:rPr b="0" sz="1200">
                <a:solidFill>
                  <a:srgbClr val="8B949E"/>
                </a:solidFill>
              </a:rPr>
              <a:t>LCS 동적 계획법 Myers Diff 및 공통 조상(LCA) 기반 병합 확장 완비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484632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🏆 최종 검증 결과 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75487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단위/통합 테스트: </a:t>
            </a:r>
            <a:r>
              <a:rPr b="0" sz="1200">
                <a:solidFill>
                  <a:srgbClr val="8B949E"/>
                </a:solidFill>
              </a:rPr>
              <a:t>test_mini_git.py 8개 테스트 스위트 100% PASS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규칙 동기화 검증: </a:t>
            </a:r>
            <a:r>
              <a:rPr b="0" sz="1200">
                <a:solidFill>
                  <a:srgbClr val="8B949E"/>
                </a:solidFill>
              </a:rPr>
              <a:t>GEMINI.md &lt;-&gt; AGENTS.md 6개 디렉터리 100% 동기화 PASS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다이어그램 문법: </a:t>
            </a:r>
            <a:r>
              <a:rPr b="0" sz="1200">
                <a:solidFill>
                  <a:srgbClr val="8B949E"/>
                </a:solidFill>
              </a:rPr>
              <a:t>36개 마크다운 내 Mermaid 다이어그램 100% PASS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58A6FF"/>
                </a:solidFill>
              </a:rPr>
              <a:t>▸ </a:t>
            </a:r>
            <a:r>
              <a:rPr b="1" sz="1200">
                <a:solidFill>
                  <a:srgbClr val="F0F6FC"/>
                </a:solidFill>
              </a:rPr>
              <a:t>구술 평가 판정: </a:t>
            </a:r>
            <a:r>
              <a:rPr b="0" sz="1200">
                <a:solidFill>
                  <a:srgbClr val="8B949E"/>
                </a:solidFill>
              </a:rPr>
              <a:t>PASS (경험정도: 능숙한 재구현 가능 / Level 5 확정)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